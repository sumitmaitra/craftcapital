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40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642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FBEFE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926080" cy="2926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CraftCapital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2834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B2B Marketplace + Procurement Assistance Platform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Rural Artisans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Terracotta &amp; Clay Home Décor — Kolkata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42062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· Final Revised Version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Entrepreneurship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artisans stay invisible to buyers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11680"/>
            <a:ext cx="475488" cy="47548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middlemen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5146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buy in bulk cheaply from the cluster; artisans rarely deal directly with the end buyer.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011680"/>
            <a:ext cx="475488" cy="47548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market access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146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seasonal melas and exhibitions, there is no reliable, year-round channel to reach buyers.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60520"/>
            <a:ext cx="475488" cy="47548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low-trust discovery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6634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scattered across informal Instagram pages, WhatsApp forwards and word-of-mouth.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4160520"/>
            <a:ext cx="475488" cy="47548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credibility signal or procurement support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6634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sourcing 200 units can't verify capacity, quality, or reliability, or get help managing the order.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scoped-down version of the earlier CraftCapital concept. Working-capital financing and full supply-chain ownership were dropped after professor feedback flagged both as infeasible for an early-stage venture — this plan focuses on market access, trust, and practical procurement assistance, without lending money or owning logistics.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98CDF1BA-8B35-C2BF-E1BA-375534B141A2}"/>
              </a:ext>
            </a:extLst>
          </p:cNvPr>
          <p:cNvSpPr/>
          <p:nvPr/>
        </p:nvSpPr>
        <p:spPr>
          <a:xfrm>
            <a:off x="579120" y="1097279"/>
            <a:ext cx="11033760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 dirty="0"/>
              <a:t>West Bengal's terracotta</a:t>
            </a:r>
            <a:r>
              <a:rPr lang="en-IN" sz="1200" dirty="0"/>
              <a:t> and </a:t>
            </a:r>
            <a:r>
              <a:rPr lang="en-IN" sz="1200" b="1" dirty="0"/>
              <a:t>clay-craft</a:t>
            </a:r>
            <a:r>
              <a:rPr lang="en-IN" sz="1200" dirty="0"/>
              <a:t> clusters (e.g. </a:t>
            </a:r>
            <a:r>
              <a:rPr lang="en-IN" sz="1200" b="1" dirty="0" err="1"/>
              <a:t>Panchmura</a:t>
            </a:r>
            <a:r>
              <a:rPr lang="en-IN" sz="1200" dirty="0"/>
              <a:t> and </a:t>
            </a:r>
            <a:r>
              <a:rPr lang="en-IN" sz="1200" b="1" dirty="0" err="1"/>
              <a:t>Sonamukhi</a:t>
            </a:r>
            <a:r>
              <a:rPr lang="en-IN" sz="1200" dirty="0"/>
              <a:t> in </a:t>
            </a:r>
            <a:r>
              <a:rPr lang="en-IN" sz="1200" b="1" dirty="0"/>
              <a:t>Bankura</a:t>
            </a:r>
            <a:r>
              <a:rPr lang="en-IN" sz="1200" dirty="0"/>
              <a:t>, and the </a:t>
            </a:r>
            <a:r>
              <a:rPr lang="en-IN" sz="1200" b="1" dirty="0"/>
              <a:t>clay-doll</a:t>
            </a:r>
            <a:r>
              <a:rPr lang="en-IN" sz="1200" dirty="0"/>
              <a:t> makers of </a:t>
            </a:r>
            <a:r>
              <a:rPr lang="en-IN" sz="1200" b="1" dirty="0" err="1"/>
              <a:t>Krishnanagar</a:t>
            </a:r>
            <a:r>
              <a:rPr lang="en-IN" sz="1200" b="1" dirty="0"/>
              <a:t>, Nadia</a:t>
            </a:r>
            <a:r>
              <a:rPr lang="en-IN" sz="1200" dirty="0"/>
              <a:t>) sustain thousands of artisan households, but the route from workshop to buyer remains broken in four consistent ways: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MARKET GAP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existing channel does all four at once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offers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missing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schemes (PM Vishwakarma, ODOP, SFURTI)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Training, tool kits, occasional credit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ongoing market linkage, buyer discovery, or procurement assistance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platforms (Amazon Karigar, Flipkart Samarth, Etsy)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B2C storefront for artisans to list 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individual orders, not verified bulk/B2B buyers; artisan manages listing &amp; logistics alone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social channels (Instagram, WhatsApp, word-of-mouth)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Low-cost, easy to start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Unstructured; no discovery layer or trust/verification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Melas, exhibitions &amp; government emporiums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Face-to-face trust, direct 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and seasonal; no recurring institutional sourcing or procurement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scheme details (PM Vishwakarma, ODOP, SFURTI) and platform policies of Amazon Karigar, Flipkart Samarth and Etsy, as of 2026; informal-channel and mela characteristics are the author's field observation, not a cited statistic.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EEF3EF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5504688"/>
            <a:ext cx="502920" cy="502920"/>
          </a:xfrm>
          <a:prstGeom prst="ellipse">
            <a:avLst/>
          </a:prstGeom>
          <a:solidFill>
            <a:srgbClr val="7C988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504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53492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piece: a channel that combines curated buyer discovery, verified B2B ordering, a reputation layer, and practical procurement assistance — for one well-defined product category. That's the gap CraftCapital fills.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idea, in plain terms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is a verified B2B marketplace and procurement-assistance platform connecting West Bengal's terracotta artisans directly to institutional buyers — without routing through middlemen. It goes beyond listing: for bulk buyers, it helps understand requirements, find verified artisans, compare products, check capacity, coordinate samples, confirm orders, and arrange third-party delivery.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49240" cy="1600200"/>
          </a:xfrm>
          <a:prstGeom prst="roundRect">
            <a:avLst>
              <a:gd name="adj" fmla="val 400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974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81328" y="26426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81328" y="302666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(terracotta décor), one city (Kolkata), two artisan clusters — prove it before expanding.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349240" cy="1600200"/>
          </a:xfrm>
          <a:prstGeom prst="roundRect">
            <a:avLst>
              <a:gd name="adj" fmla="val 400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26974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96328" y="26426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before transactions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96328" y="302666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weekly 'Kolkata Craft Weekly' digest builds buyer trust first, solving the two-sided cold-start problem cheaply.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79392"/>
            <a:ext cx="5349240" cy="1600200"/>
          </a:xfrm>
          <a:prstGeom prst="roundRect">
            <a:avLst>
              <a:gd name="adj" fmla="val 400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55371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81328" y="4498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assistance, not just listing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81328" y="488289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buyers a real reason to use CraftCapital, and justifies the 10% commission.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279392"/>
            <a:ext cx="5349240" cy="1600200"/>
          </a:xfrm>
          <a:prstGeom prst="roundRect">
            <a:avLst>
              <a:gd name="adj" fmla="val 400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455371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96328" y="4498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&amp; validation-first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96328" y="488289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lending, no owned inventory/logistics. Year 1 tests acquisition, AOV, repeat orders, and commission acceptance before scaling.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TARGET MARKET AND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makes it, who buys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343400"/>
          </a:xfrm>
          <a:prstGeom prst="roundRect">
            <a:avLst>
              <a:gd name="adj" fmla="val 1474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side — Artisans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terracotta/clay artisans in Panchmura &amp; Sonamukhi (Bankura) and Krishnanagar (Nadia) clusters.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SHG- and cooperative-organized artisan groups — onboarded first, since group structure simplifies verification versus reaching individuals one by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4343400"/>
          </a:xfrm>
          <a:prstGeom prst="roundRect">
            <a:avLst>
              <a:gd name="adj" fmla="val 1474"/>
            </a:avLst>
          </a:prstGeom>
          <a:solidFill>
            <a:srgbClr val="EEF3EF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783080"/>
            <a:ext cx="502920" cy="502920"/>
          </a:xfrm>
          <a:prstGeom prst="ellipse">
            <a:avLst/>
          </a:prstGeom>
          <a:solidFill>
            <a:srgbClr val="7C988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 — Buyers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2496312"/>
            <a:ext cx="91440" cy="91440"/>
          </a:xfrm>
          <a:prstGeom prst="ellipse">
            <a:avLst/>
          </a:prstGeom>
          <a:solidFill>
            <a:srgbClr val="7C9885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2350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gifting companies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2642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Bulk, seasonal spikes (Diwali, year-end)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3246120"/>
            <a:ext cx="91440" cy="91440"/>
          </a:xfrm>
          <a:prstGeom prst="ellipse">
            <a:avLst/>
          </a:prstGeom>
          <a:solidFill>
            <a:srgbClr val="7C9885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0998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décor &amp; boutique stores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33924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monthly restocking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3995928"/>
            <a:ext cx="91440" cy="91440"/>
          </a:xfrm>
          <a:prstGeom prst="ellipse">
            <a:avLst/>
          </a:prstGeom>
          <a:solidFill>
            <a:srgbClr val="7C9885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38496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hotels &amp; hospitality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4142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fit-out + periodic refresh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4745736"/>
            <a:ext cx="91440" cy="91440"/>
          </a:xfrm>
          <a:prstGeom prst="ellipse">
            <a:avLst/>
          </a:prstGeom>
          <a:solidFill>
            <a:srgbClr val="7C9885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45994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designers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4892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Project-based, irregular but high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55138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houses are excluded from the pilot — compliance and logistics add complexity the pilot avoids.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Author's segmentation, based on general B2B gifting/décor procurement patterns; to be confirmed via buyer interviews.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TOTAL MARKET SIZE — METHOD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Ratio: narrowing from national to Kolkata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handicraft market (2024)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06440" y="14630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$4.56B at ~₹83/$1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83880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$4.56B × ₹83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104120" y="14630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₹37,848 Cr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350008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24028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Organized B2B/institutional share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06440" y="224028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(mid 17.5%)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83880" y="22402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₹37,848 Cr × 17.5%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0412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₹6,623 Cr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127248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0175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Eastern India / West Bengal share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06440" y="30175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8–10% (mid 9%)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83880" y="30175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₹6,623 Cr × 9%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04120" y="3017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₹596 Cr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904488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04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379476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Kolkata's share of Eastern India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806440" y="37947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(largest metro)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8388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₹596 Cr × 40%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04120" y="37947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₹238 Cr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B85042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468172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681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25880" y="457200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Terracotta share of handicraft mix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806440" y="45720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83880" y="4572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₹238 Cr × 2%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04120" y="45720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₹4.8 Cr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≈ ₹4.8 Cr addressable Year-1 institutional demand in Kolkata for terracotta décor. Using the full 15–20% and 8–10% ranges instead of midpoints moves this between roughly ₹3.3 Cr and ₹6.4 Cr.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figure and USD/INR conversion — Ministry of Textiles / Economic Survey trade estimate, as cited in the original CraftCapital plan, converted at an illustrative ₹83/$1. Steps 2–5 are author's assumptions, not independently sourced, and must be validated through the planned buyer survey.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TOTAL MARKET SIZE — METHOD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End-Use Method: a supply-side cross-check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EF3EF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0784"/>
            <a:ext cx="457200" cy="457200"/>
          </a:xfrm>
          <a:prstGeom prst="ellipse">
            <a:avLst/>
          </a:prstGeom>
          <a:solidFill>
            <a:srgbClr val="7C988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artisan households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23560" y="155448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1,500–2,500 (Panchmura + Krishnanagar, mid 2,000)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49640" y="155448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104120" y="15544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households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7C988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46888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Avg. annual output per household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23560" y="246888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₹60,000–₹1,20,000 (mid ₹90,000)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49640" y="246888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× ₹90,000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04120" y="24688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 Cr / year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7C9885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5295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9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38328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% reachable in Year 1–2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23560" y="338328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(mid 6.5%)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49640" y="338328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 Cr × 6.5%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04120" y="33832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₹1.17 Cr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4736592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464515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two numbers differ — and that's a good sign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49834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demand in Kolkata (≈ ₹4.8 Cr) is larger than what the two pilot clusters can realistically supply in Year 1–2 (≈ ₹1.17 Cr). That means artisan onboarding capacity, not buyer demand, is the near-term constraint — which is exactly why the plan grows cluster by cluster.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count and output-per-household are the author's estimates based on general knowledge of West Bengal terracotta cluster scale, not a published census figure. To be confirmed via a direct cluster-level survey.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REVENUE MODEL — STREAMS &amp;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business earns money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B85042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1907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19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6276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procurement commission — 10% of completed transaction value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0299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revenue. Covers verified supplier discovery and practical B2B procurement assistance — requirement matching, supplier comparison, sample coordination, order confirmation, and third-party delivery coordination.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3375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384048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buyer membership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43434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flat annual fee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4590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access &amp; saved supplier lists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01568" y="310896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33375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3630168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02736" y="384048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digest placement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02736" y="43434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flat fee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02736" y="4590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spot in weekly Artisan Spotlight digest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54496" y="310896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83096" y="33375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6483096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55664" y="384048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&amp; catalog placement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55664" y="43434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opt-in fee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55664" y="4590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Enhanced/featured artisan listings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07424" y="310896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36024" y="33375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9336024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08592" y="384048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partner referrals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08592" y="43434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commission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08592" y="4590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never owns logistics or inventory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10% commission is a target assumption supported by the expanded procurement-assistance role, not a validated market fact — final rates should be tested with pilot buyers and artisans.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>
            <a:extLst>
              <a:ext uri="{FF2B5EF4-FFF2-40B4-BE49-F238E27FC236}">
                <a16:creationId xmlns:a16="http://schemas.microsoft.com/office/drawing/2014/main" id="{FC43705F-082A-56BE-1F57-6F3EAC6EEF42}"/>
              </a:ext>
            </a:extLst>
          </p:cNvPr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MARKET OPPORTUNITY</a:t>
            </a:r>
            <a:endParaRPr lang="en-US" sz="1200" dirty="0"/>
          </a:p>
        </p:txBody>
      </p:sp>
      <p:sp>
        <p:nvSpPr>
          <p:cNvPr id="86" name="Text 1">
            <a:extLst>
              <a:ext uri="{FF2B5EF4-FFF2-40B4-BE49-F238E27FC236}">
                <a16:creationId xmlns:a16="http://schemas.microsoft.com/office/drawing/2014/main" id="{0E5D69E7-EC4A-D730-22D4-D2AFF8C31E62}"/>
              </a:ext>
            </a:extLst>
          </p:cNvPr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 is a good time</a:t>
            </a:r>
            <a:endParaRPr lang="en-US" sz="2800" dirty="0"/>
          </a:p>
        </p:txBody>
      </p:sp>
      <p:sp>
        <p:nvSpPr>
          <p:cNvPr id="88" name="Shape 2">
            <a:extLst>
              <a:ext uri="{FF2B5EF4-FFF2-40B4-BE49-F238E27FC236}">
                <a16:creationId xmlns:a16="http://schemas.microsoft.com/office/drawing/2014/main" id="{B7768A70-2518-9E78-56F1-29A81D00BEAA}"/>
              </a:ext>
            </a:extLst>
          </p:cNvPr>
          <p:cNvSpPr/>
          <p:nvPr/>
        </p:nvSpPr>
        <p:spPr>
          <a:xfrm>
            <a:off x="548640" y="155448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90" name="Shape 3">
            <a:extLst>
              <a:ext uri="{FF2B5EF4-FFF2-40B4-BE49-F238E27FC236}">
                <a16:creationId xmlns:a16="http://schemas.microsoft.com/office/drawing/2014/main" id="{558BCD61-A20E-2B35-FCD9-2012D8A766F9}"/>
              </a:ext>
            </a:extLst>
          </p:cNvPr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2" name="Text 4">
            <a:extLst>
              <a:ext uri="{FF2B5EF4-FFF2-40B4-BE49-F238E27FC236}">
                <a16:creationId xmlns:a16="http://schemas.microsoft.com/office/drawing/2014/main" id="{D9C5CA88-B246-205F-7CD6-A1A08CF1AB20}"/>
              </a:ext>
            </a:extLst>
          </p:cNvPr>
          <p:cNvSpPr/>
          <p:nvPr/>
        </p:nvSpPr>
        <p:spPr>
          <a:xfrm>
            <a:off x="7772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4" name="Text 5">
            <a:extLst>
              <a:ext uri="{FF2B5EF4-FFF2-40B4-BE49-F238E27FC236}">
                <a16:creationId xmlns:a16="http://schemas.microsoft.com/office/drawing/2014/main" id="{DFCE15DA-1550-5C97-FDE7-59812C312605}"/>
              </a:ext>
            </a:extLst>
          </p:cNvPr>
          <p:cNvSpPr/>
          <p:nvPr/>
        </p:nvSpPr>
        <p:spPr>
          <a:xfrm>
            <a:off x="1463040" y="1554480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tailwinds: PM Vishwakarma and ODOP actively promote artisan visibility and formalization, lowering the cost of outreach and onboarding.</a:t>
            </a:r>
            <a:endParaRPr lang="en-US" sz="1200" dirty="0"/>
          </a:p>
        </p:txBody>
      </p:sp>
      <p:sp>
        <p:nvSpPr>
          <p:cNvPr id="96" name="Shape 6">
            <a:extLst>
              <a:ext uri="{FF2B5EF4-FFF2-40B4-BE49-F238E27FC236}">
                <a16:creationId xmlns:a16="http://schemas.microsoft.com/office/drawing/2014/main" id="{8F829058-3CAB-BBA3-985E-E3191860E269}"/>
              </a:ext>
            </a:extLst>
          </p:cNvPr>
          <p:cNvSpPr/>
          <p:nvPr/>
        </p:nvSpPr>
        <p:spPr>
          <a:xfrm>
            <a:off x="548640" y="248716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DC16B787-19AD-A838-36BA-F8311D583D9D}"/>
              </a:ext>
            </a:extLst>
          </p:cNvPr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0" name="Text 8">
            <a:extLst>
              <a:ext uri="{FF2B5EF4-FFF2-40B4-BE49-F238E27FC236}">
                <a16:creationId xmlns:a16="http://schemas.microsoft.com/office/drawing/2014/main" id="{0B447FAF-B08E-F7AE-C27C-ED0BA5F617AE}"/>
              </a:ext>
            </a:extLst>
          </p:cNvPr>
          <p:cNvSpPr/>
          <p:nvPr/>
        </p:nvSpPr>
        <p:spPr>
          <a:xfrm>
            <a:off x="777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2" name="Text 9">
            <a:extLst>
              <a:ext uri="{FF2B5EF4-FFF2-40B4-BE49-F238E27FC236}">
                <a16:creationId xmlns:a16="http://schemas.microsoft.com/office/drawing/2014/main" id="{0BEA82A8-ED66-ADE7-1CB0-842C56CE1458}"/>
              </a:ext>
            </a:extLst>
          </p:cNvPr>
          <p:cNvSpPr/>
          <p:nvPr/>
        </p:nvSpPr>
        <p:spPr>
          <a:xfrm>
            <a:off x="1463040" y="2487168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urban demand for authentic, handmade, sustainable products — corporate gifting has shifted toward story-led, local products over generic hampers.</a:t>
            </a:r>
            <a:endParaRPr lang="en-US" sz="1200" dirty="0"/>
          </a:p>
        </p:txBody>
      </p:sp>
      <p:sp>
        <p:nvSpPr>
          <p:cNvPr id="104" name="Shape 10">
            <a:extLst>
              <a:ext uri="{FF2B5EF4-FFF2-40B4-BE49-F238E27FC236}">
                <a16:creationId xmlns:a16="http://schemas.microsoft.com/office/drawing/2014/main" id="{6EC55B6D-27B5-4FE0-618D-49C6EA8FE881}"/>
              </a:ext>
            </a:extLst>
          </p:cNvPr>
          <p:cNvSpPr/>
          <p:nvPr/>
        </p:nvSpPr>
        <p:spPr>
          <a:xfrm>
            <a:off x="548640" y="341985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06" name="Shape 11">
            <a:extLst>
              <a:ext uri="{FF2B5EF4-FFF2-40B4-BE49-F238E27FC236}">
                <a16:creationId xmlns:a16="http://schemas.microsoft.com/office/drawing/2014/main" id="{B7018F13-CB33-4F23-5453-DF0A2EF786C1}"/>
              </a:ext>
            </a:extLst>
          </p:cNvPr>
          <p:cNvSpPr/>
          <p:nvPr/>
        </p:nvSpPr>
        <p:spPr>
          <a:xfrm>
            <a:off x="777240" y="35844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8" name="Text 12">
            <a:extLst>
              <a:ext uri="{FF2B5EF4-FFF2-40B4-BE49-F238E27FC236}">
                <a16:creationId xmlns:a16="http://schemas.microsoft.com/office/drawing/2014/main" id="{41FD38C8-798B-719F-08D2-BB79D9B12E92}"/>
              </a:ext>
            </a:extLst>
          </p:cNvPr>
          <p:cNvSpPr/>
          <p:nvPr/>
        </p:nvSpPr>
        <p:spPr>
          <a:xfrm>
            <a:off x="77724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0" name="Text 13">
            <a:extLst>
              <a:ext uri="{FF2B5EF4-FFF2-40B4-BE49-F238E27FC236}">
                <a16:creationId xmlns:a16="http://schemas.microsoft.com/office/drawing/2014/main" id="{84144849-9991-0F8B-BFB7-683D895ACEEE}"/>
              </a:ext>
            </a:extLst>
          </p:cNvPr>
          <p:cNvSpPr/>
          <p:nvPr/>
        </p:nvSpPr>
        <p:spPr>
          <a:xfrm>
            <a:off x="1463040" y="3419856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comfort with digital B2B sourcing means buyers no longer need an in-person relationship before ordering.</a:t>
            </a:r>
            <a:endParaRPr lang="en-US" sz="1200" dirty="0"/>
          </a:p>
        </p:txBody>
      </p:sp>
      <p:sp>
        <p:nvSpPr>
          <p:cNvPr id="112" name="Shape 14">
            <a:extLst>
              <a:ext uri="{FF2B5EF4-FFF2-40B4-BE49-F238E27FC236}">
                <a16:creationId xmlns:a16="http://schemas.microsoft.com/office/drawing/2014/main" id="{948C5874-0BDF-102D-8D9D-62F6519B8C70}"/>
              </a:ext>
            </a:extLst>
          </p:cNvPr>
          <p:cNvSpPr/>
          <p:nvPr/>
        </p:nvSpPr>
        <p:spPr>
          <a:xfrm>
            <a:off x="548640" y="435254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14" name="Shape 15">
            <a:extLst>
              <a:ext uri="{FF2B5EF4-FFF2-40B4-BE49-F238E27FC236}">
                <a16:creationId xmlns:a16="http://schemas.microsoft.com/office/drawing/2014/main" id="{DDF98D3F-1BFD-CD2C-0ABB-A0184D8B95EF}"/>
              </a:ext>
            </a:extLst>
          </p:cNvPr>
          <p:cNvSpPr/>
          <p:nvPr/>
        </p:nvSpPr>
        <p:spPr>
          <a:xfrm>
            <a:off x="777240" y="451713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6" name="Text 16">
            <a:extLst>
              <a:ext uri="{FF2B5EF4-FFF2-40B4-BE49-F238E27FC236}">
                <a16:creationId xmlns:a16="http://schemas.microsoft.com/office/drawing/2014/main" id="{E04E29DF-87E5-F91F-215F-3BE937029857}"/>
              </a:ext>
            </a:extLst>
          </p:cNvPr>
          <p:cNvSpPr/>
          <p:nvPr/>
        </p:nvSpPr>
        <p:spPr>
          <a:xfrm>
            <a:off x="77724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8" name="Text 17">
            <a:extLst>
              <a:ext uri="{FF2B5EF4-FFF2-40B4-BE49-F238E27FC236}">
                <a16:creationId xmlns:a16="http://schemas.microsoft.com/office/drawing/2014/main" id="{D6EABA44-ED6F-73EC-E277-4DF7B0F8550C}"/>
              </a:ext>
            </a:extLst>
          </p:cNvPr>
          <p:cNvSpPr/>
          <p:nvPr/>
        </p:nvSpPr>
        <p:spPr>
          <a:xfrm>
            <a:off x="1463040" y="4352544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incumbent combines curated discovery, verified B2B ordering, and procurement assistance for one focused craft category — the gap in Section 2 stays open.</a:t>
            </a:r>
            <a:endParaRPr lang="en-US" sz="1200" dirty="0"/>
          </a:p>
        </p:txBody>
      </p:sp>
      <p:sp>
        <p:nvSpPr>
          <p:cNvPr id="120" name="Shape 18">
            <a:extLst>
              <a:ext uri="{FF2B5EF4-FFF2-40B4-BE49-F238E27FC236}">
                <a16:creationId xmlns:a16="http://schemas.microsoft.com/office/drawing/2014/main" id="{AF17BEA8-4C6E-63F8-2641-1514E0ECA0B4}"/>
              </a:ext>
            </a:extLst>
          </p:cNvPr>
          <p:cNvSpPr/>
          <p:nvPr/>
        </p:nvSpPr>
        <p:spPr>
          <a:xfrm>
            <a:off x="548640" y="5358384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EB78BCC0-E82A-06A8-32FA-4F6C78301DB2}"/>
              </a:ext>
            </a:extLst>
          </p:cNvPr>
          <p:cNvSpPr/>
          <p:nvPr/>
        </p:nvSpPr>
        <p:spPr>
          <a:xfrm>
            <a:off x="731520" y="5413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₹37,848 Cr</a:t>
            </a:r>
            <a:endParaRPr lang="en-US" sz="1500" dirty="0"/>
          </a:p>
        </p:txBody>
      </p:sp>
      <p:sp>
        <p:nvSpPr>
          <p:cNvPr id="124" name="Text 20">
            <a:extLst>
              <a:ext uri="{FF2B5EF4-FFF2-40B4-BE49-F238E27FC236}">
                <a16:creationId xmlns:a16="http://schemas.microsoft.com/office/drawing/2014/main" id="{1686BC01-C41B-02AD-9B5B-F905ECF07607}"/>
              </a:ext>
            </a:extLst>
          </p:cNvPr>
          <p:cNvSpPr/>
          <p:nvPr/>
        </p:nvSpPr>
        <p:spPr>
          <a:xfrm>
            <a:off x="731520" y="56875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handicraft market, 2024</a:t>
            </a:r>
            <a:endParaRPr lang="en-US" sz="95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87CB7A74-C85C-623E-4DC8-4AC0E754B2CF}"/>
              </a:ext>
            </a:extLst>
          </p:cNvPr>
          <p:cNvSpPr/>
          <p:nvPr/>
        </p:nvSpPr>
        <p:spPr>
          <a:xfrm>
            <a:off x="4297680" y="5358384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28" name="Text 22">
            <a:extLst>
              <a:ext uri="{FF2B5EF4-FFF2-40B4-BE49-F238E27FC236}">
                <a16:creationId xmlns:a16="http://schemas.microsoft.com/office/drawing/2014/main" id="{582ED216-5CB2-BAB8-1875-38988138C0A3}"/>
              </a:ext>
            </a:extLst>
          </p:cNvPr>
          <p:cNvSpPr/>
          <p:nvPr/>
        </p:nvSpPr>
        <p:spPr>
          <a:xfrm>
            <a:off x="4480560" y="5413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₹68,000 Cr</a:t>
            </a:r>
            <a:endParaRPr lang="en-US" sz="1500" dirty="0"/>
          </a:p>
        </p:txBody>
      </p:sp>
      <p:sp>
        <p:nvSpPr>
          <p:cNvPr id="130" name="Text 23">
            <a:extLst>
              <a:ext uri="{FF2B5EF4-FFF2-40B4-BE49-F238E27FC236}">
                <a16:creationId xmlns:a16="http://schemas.microsoft.com/office/drawing/2014/main" id="{0C8D5F2A-DC9C-8B0C-27C1-32122516DE89}"/>
              </a:ext>
            </a:extLst>
          </p:cNvPr>
          <p:cNvSpPr/>
          <p:nvPr/>
        </p:nvSpPr>
        <p:spPr>
          <a:xfrm>
            <a:off x="4480560" y="56875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market, 2033</a:t>
            </a:r>
            <a:endParaRPr lang="en-US" sz="950" dirty="0"/>
          </a:p>
        </p:txBody>
      </p:sp>
      <p:sp>
        <p:nvSpPr>
          <p:cNvPr id="132" name="Shape 24">
            <a:extLst>
              <a:ext uri="{FF2B5EF4-FFF2-40B4-BE49-F238E27FC236}">
                <a16:creationId xmlns:a16="http://schemas.microsoft.com/office/drawing/2014/main" id="{1FA1DD73-0ED0-0119-C999-BFC3D1F2DBFB}"/>
              </a:ext>
            </a:extLst>
          </p:cNvPr>
          <p:cNvSpPr/>
          <p:nvPr/>
        </p:nvSpPr>
        <p:spPr>
          <a:xfrm>
            <a:off x="8046720" y="5358384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34" name="Text 25">
            <a:extLst>
              <a:ext uri="{FF2B5EF4-FFF2-40B4-BE49-F238E27FC236}">
                <a16:creationId xmlns:a16="http://schemas.microsoft.com/office/drawing/2014/main" id="{2EA5F862-C000-A2FB-52C4-91636E9C4FBA}"/>
              </a:ext>
            </a:extLst>
          </p:cNvPr>
          <p:cNvSpPr/>
          <p:nvPr/>
        </p:nvSpPr>
        <p:spPr>
          <a:xfrm>
            <a:off x="8229600" y="5413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6.7%</a:t>
            </a:r>
            <a:endParaRPr lang="en-US" sz="1500" dirty="0"/>
          </a:p>
        </p:txBody>
      </p:sp>
      <p:sp>
        <p:nvSpPr>
          <p:cNvPr id="136" name="Text 26">
            <a:extLst>
              <a:ext uri="{FF2B5EF4-FFF2-40B4-BE49-F238E27FC236}">
                <a16:creationId xmlns:a16="http://schemas.microsoft.com/office/drawing/2014/main" id="{00EF9B6E-4608-D6EE-283B-90EEF4B1473E}"/>
              </a:ext>
            </a:extLst>
          </p:cNvPr>
          <p:cNvSpPr/>
          <p:nvPr/>
        </p:nvSpPr>
        <p:spPr>
          <a:xfrm>
            <a:off x="8229600" y="56875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CAGR, 2024–2033</a:t>
            </a:r>
            <a:endParaRPr lang="en-US" sz="950" dirty="0"/>
          </a:p>
        </p:txBody>
      </p:sp>
      <p:sp>
        <p:nvSpPr>
          <p:cNvPr id="138" name="Text 27">
            <a:extLst>
              <a:ext uri="{FF2B5EF4-FFF2-40B4-BE49-F238E27FC236}">
                <a16:creationId xmlns:a16="http://schemas.microsoft.com/office/drawing/2014/main" id="{EFA9D99B-3874-3470-A82D-B16F67BE5C71}"/>
              </a:ext>
            </a:extLst>
          </p:cNvPr>
          <p:cNvSpPr/>
          <p:nvPr/>
        </p:nvSpPr>
        <p:spPr>
          <a:xfrm>
            <a:off x="548640" y="6044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names — publicly available program information (PM Vishwakarma, ODOP), as of 2026. Market growth figures ($4.56B→$8.19B, converted at ~₹83/$1) are per the original CraftCapital trade-estimate source; CAGR is the author's calculation. Demand-shift and digital-comfort observations are the author's interpretation, not survey-backed figures.</a:t>
            </a:r>
            <a:endParaRPr lang="en-US" sz="1050" dirty="0"/>
          </a:p>
        </p:txBody>
      </p:sp>
      <p:sp>
        <p:nvSpPr>
          <p:cNvPr id="140" name="Text 28">
            <a:extLst>
              <a:ext uri="{FF2B5EF4-FFF2-40B4-BE49-F238E27FC236}">
                <a16:creationId xmlns:a16="http://schemas.microsoft.com/office/drawing/2014/main" id="{F693A54F-4F5D-74BD-08B4-D1D771B0A06A}"/>
              </a:ext>
            </a:extLst>
          </p:cNvPr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42" name="Text 29">
            <a:extLst>
              <a:ext uri="{FF2B5EF4-FFF2-40B4-BE49-F238E27FC236}">
                <a16:creationId xmlns:a16="http://schemas.microsoft.com/office/drawing/2014/main" id="{78685721-0696-0EC5-9C4D-C16B0B91E63D}"/>
              </a:ext>
            </a:extLst>
          </p:cNvPr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order and one buyer look like, over 3 years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79476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Order Value (AOV)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per active buyer /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commission revenue per buyer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membership (target)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₹5,000/yr, partial adoption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₹5,000/yr, partial adoption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₹5,000/yr, partial adoption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₹250–400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w/ referrals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further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period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improve as the business moves from pilot to larger institutional orders — the 10% commission is supported by procurement assistance, not simple listing.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AOV, repeat orders, CAC, membership adoption and commission are working assumptions to be validated through the pilot.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1617F45D-AA8C-505A-6B31-696E8E43CEF9}"/>
              </a:ext>
            </a:extLst>
          </p:cNvPr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COMPETITIVE LANDSCAPE</a:t>
            </a:r>
            <a:endParaRPr lang="en-US" sz="12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8BDF94B-93DC-C79C-77B9-7E0FF8967533}"/>
              </a:ext>
            </a:extLst>
          </p:cNvPr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CraftCapital sits</a:t>
            </a:r>
            <a:endParaRPr lang="en-US" sz="2800" dirty="0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EC027E1E-E172-D03F-CE29-7AC06838D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381121"/>
              </p:ext>
            </p:extLst>
          </p:nvPr>
        </p:nvGraphicFramePr>
        <p:xfrm>
          <a:off x="548640" y="1371600"/>
          <a:ext cx="11064240" cy="30175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CraftCapital fills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Karigar / Flipkart Samarth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B2C marketplace for artisan products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focused verified B2B procurement workflow or buyer digest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Etsy / Instagram artisan pages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storefronts, informal discovery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verification or procurement support; buyer coordinates alone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emporiums (e.g. Manjusha)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retail, GI-tag promotion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only; no recurring digital procurement workflow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B2B trade agents (middlemen)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sourcing relationships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 pricing, low artisan margin, no digital trust layer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CraftCapital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B2B marketplace + procurement assistance + curated digest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discovery, verification, requirement matching, procurement support &amp; ordering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">
            <a:extLst>
              <a:ext uri="{FF2B5EF4-FFF2-40B4-BE49-F238E27FC236}">
                <a16:creationId xmlns:a16="http://schemas.microsoft.com/office/drawing/2014/main" id="{0A839CC1-41CF-6B6B-9921-AC91A1C96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755959"/>
              </p:ext>
            </p:extLst>
          </p:nvPr>
        </p:nvGraphicFramePr>
        <p:xfrm>
          <a:off x="548640" y="4526280"/>
          <a:ext cx="11064240" cy="14173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Amazon/Flipkart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Etsy/Instagram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Emporiums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Middlemen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CraftCapital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suppliers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bulk focus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assistance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buyer discovery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2">
            <a:extLst>
              <a:ext uri="{FF2B5EF4-FFF2-40B4-BE49-F238E27FC236}">
                <a16:creationId xmlns:a16="http://schemas.microsoft.com/office/drawing/2014/main" id="{D644676A-7530-6EF9-3510-DB32C89CDF73}"/>
              </a:ext>
            </a:extLst>
          </p:cNvPr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information on each platform's business model and positioning, as of 2026. Capability matrix is the author's comparative assessment.</a:t>
            </a:r>
            <a:endParaRPr lang="en-US" sz="105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DF53031-95FB-B51D-5247-ACC1FF57C824}"/>
              </a:ext>
            </a:extLst>
          </p:cNvPr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383E505-B676-C798-37B2-21636765874C}"/>
              </a:ext>
            </a:extLst>
          </p:cNvPr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0A28B116-9AD0-0CC3-251E-FEF1FE6CF4A7}"/>
              </a:ext>
            </a:extLst>
          </p:cNvPr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FINANCIAL PROJECTIONS — 3 YEARS (1 OF 2)</a:t>
            </a:r>
            <a:endParaRPr lang="en-US" sz="1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B1E49A3-14AF-51AE-0AF9-64605F73875D}"/>
              </a:ext>
            </a:extLst>
          </p:cNvPr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inputs: buyers, orders &amp; AOV</a:t>
            </a:r>
            <a:endParaRPr lang="en-US" sz="2800" dirty="0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7D50BFD8-4737-1973-3955-EA5FA2F68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069940"/>
              </p:ext>
            </p:extLst>
          </p:nvPr>
        </p:nvGraphicFramePr>
        <p:xfrm>
          <a:off x="548640" y="1371600"/>
          <a:ext cx="11064240" cy="3429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— Kolkata Pilot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 — Expansion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 — Eastern India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Artisans onboarded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 growth (YoY)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→ 300 = 3.75×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→ 800 = 2.67×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institutional buyers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growth (YoY)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→ 300 = 6.0×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→ 500 = 1.67×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Order Value (AOV)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per buyer / year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orders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× 3 = 150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× 3 = 900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× 3 = 1,500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Shape 2">
            <a:extLst>
              <a:ext uri="{FF2B5EF4-FFF2-40B4-BE49-F238E27FC236}">
                <a16:creationId xmlns:a16="http://schemas.microsoft.com/office/drawing/2014/main" id="{F5AA4289-5FA6-433A-87CE-47C0E8158EFF}"/>
              </a:ext>
            </a:extLst>
          </p:cNvPr>
          <p:cNvSpPr/>
          <p:nvPr/>
        </p:nvSpPr>
        <p:spPr>
          <a:xfrm>
            <a:off x="548640" y="49377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D40E3049-BE95-A30B-234D-10FFF7041E65}"/>
              </a:ext>
            </a:extLst>
          </p:cNvPr>
          <p:cNvSpPr/>
          <p:nvPr/>
        </p:nvSpPr>
        <p:spPr>
          <a:xfrm>
            <a:off x="868680" y="51023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financial case</a:t>
            </a:r>
            <a:endParaRPr lang="en-US" sz="14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22C44C07-6DC8-8059-238D-33EF05326C4B}"/>
              </a:ext>
            </a:extLst>
          </p:cNvPr>
          <p:cNvSpPr/>
          <p:nvPr/>
        </p:nvSpPr>
        <p:spPr>
          <a:xfrm>
            <a:off x="868680" y="5440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plan uses a single projection — not separate conservative and target cases. Year 1 is a controlled validation year with a manageable loss; Year 2 becomes profitable as buyer count and AOV increase; Year 3 scales the same asset-light model across Eastern India. Buyer growth outpaces artisan growth in Year 2 deliberately — the digest builds a buyer waitlist ahead of supply capacity.</a:t>
            </a:r>
            <a:endParaRPr lang="en-US" sz="11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F7AD3922-6204-D981-AD81-A0874C6FD204}"/>
              </a:ext>
            </a:extLst>
          </p:cNvPr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B68F4756-DC64-C6C0-1353-96B346C890CD}"/>
              </a:ext>
            </a:extLst>
          </p:cNvPr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FINANCIAL PROJECTIONS — 3 YEARS (2 OF 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orders to operating profit — the full math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520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× ₹12,000 = ₹18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× ₹15,000 = ₹1.35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 × ₹15,000 = ₹2.25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revenue (10%)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 L × 10% = ₹1.8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₹1.35 Cr × 10% = ₹13.5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₹2.25 Cr × 10% = ₹22.5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+ sponsorship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₹0.75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₹1.8 L + ₹0.75 L = ₹2.55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₹13.5 L + ₹5 L = ₹18.5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₹22.5 L + ₹9 L = ₹31.5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profit / (loss)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₹2.55 L − ₹6 L = (₹3.45 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₹18.5 L − ₹14 L = ₹4.5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₹31.5 L − ₹28 L = ₹3.5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is intentionally loss-making — the goal is validating buyer acquisition, procurement workflow, repeat demand, and willingness to pay before scaling.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projections, not actual results. Buyer count, AOV, order frequency, commission, membership/sponsorship and operating costs must be validated during the pilot.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EBE984FA-1FBB-87D4-F7EB-D21B89B8EE0D}"/>
              </a:ext>
            </a:extLst>
          </p:cNvPr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OPERATING COST — LEAN FOUNDER-LED MODEL</a:t>
            </a:r>
            <a:endParaRPr lang="en-US" sz="12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EBE2292-EBF0-407E-DCBC-58A954E9653C}"/>
              </a:ext>
            </a:extLst>
          </p:cNvPr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Year-1 ₹6 L budget goes</a:t>
            </a:r>
            <a:endParaRPr lang="en-US" sz="28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17BB6D24-E9A4-9071-E4FF-4B816FF2C4B2}"/>
              </a:ext>
            </a:extLst>
          </p:cNvPr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founder is a software developer, CraftCapital does not need a full-time developer early on — the founder handles product, major buyer relationships, and strategy directly.</a:t>
            </a:r>
            <a:endParaRPr lang="en-US" sz="1250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B1C90E21-66E1-7889-9B8A-2A6CD9F9E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61039"/>
              </p:ext>
            </p:extLst>
          </p:nvPr>
        </p:nvGraphicFramePr>
        <p:xfrm>
          <a:off x="548640" y="1828800"/>
          <a:ext cx="11064240" cy="36118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category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Year-1 budget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/ artisan coordinator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₹2.40 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junior employee at about ₹20,000/month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₹0.75 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Cloud/VPS, domain, database, backups, email, APIs &amp; software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marketing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₹0.75 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LinkedIn/outreach tools, catalogs, small campaigns, events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 verification &amp; travel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₹1.00 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visits, local travel, samples, photography/materials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 / legal / compliance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₹0.40 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Outsourced CA/accounting and basic legal support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Coworking / meetings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₹0.20 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rooms, occasional workspace; no permanent office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/ email / business tools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₹0.20 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Messaging, email and related software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₹0.30 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3B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Unexpected small operating expenses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₹6.00 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Year-1 operating budget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Shape 3">
            <a:extLst>
              <a:ext uri="{FF2B5EF4-FFF2-40B4-BE49-F238E27FC236}">
                <a16:creationId xmlns:a16="http://schemas.microsoft.com/office/drawing/2014/main" id="{DB4B712A-5761-B2AA-6AF8-11E6F718B971}"/>
              </a:ext>
            </a:extLst>
          </p:cNvPr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EEF3EF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24CE2B5E-B68C-26C5-0B1A-A6C1B7E6907B}"/>
              </a:ext>
            </a:extLst>
          </p:cNvPr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Year 2 (₹14 L) and Year 3 (₹28 L): </a:t>
            </a:r>
            <a:r>
              <a:rPr lang="en-US" sz="105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comes mainly from a second artisan coordinator, expanded marketing spend, and more cluster-verification travel as new clusters/cities are added — the lean, founder-led structure continues; no office lease or large team is planned.</a:t>
            </a:r>
            <a:endParaRPr lang="en-US" sz="105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043809F9-39FD-45C4-2334-1B939082C70E}"/>
              </a:ext>
            </a:extLst>
          </p:cNvPr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68AA758D-0F9D-4FBD-5389-699674469437}"/>
              </a:ext>
            </a:extLst>
          </p:cNvPr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GO-TO-MARKET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phases, in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6252" y="1874520"/>
            <a:ext cx="585216" cy="5852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2016252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898648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first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611880"/>
            <a:ext cx="3008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1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free 'Kolkata Craft Weekly' digest — WhatsApp, email &amp; web platform. Build subscribers via LinkedIn outreach, design-school networks &amp; in-person visits. No transactions yet — the goal is trust, reach, and learning at near-zero paid cost.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87368" y="29718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25112" y="160020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92724" y="1874520"/>
            <a:ext cx="585216" cy="5852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792724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25112" y="2560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9704" y="2898648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marketplace + procurement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81144" y="3611880"/>
            <a:ext cx="3008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1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50–100 verified artisans via SHG/cooperative endorsement. Invite engaged subscribers to place their first order. Provide procurement assistance: capture requirements, shortlist artisans, coordinate samples, confirm capacity, arrange courier delivery.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0" y="29718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1584" y="1600200"/>
            <a:ext cx="3520440" cy="4206240"/>
          </a:xfrm>
          <a:prstGeom prst="roundRect">
            <a:avLst>
              <a:gd name="adj" fmla="val 1818"/>
            </a:avLst>
          </a:prstGeom>
          <a:solidFill>
            <a:srgbClr val="FBEFEC"/>
          </a:solidFill>
          <a:ln/>
          <a:effectLst>
            <a:outerShdw blurRad="63500" dist="25400" dir="5400000" algn="bl" rotWithShape="0">
              <a:srgbClr val="B0A199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69196" y="1874520"/>
            <a:ext cx="585216" cy="5852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9569196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01584" y="2560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66176" y="2898648"/>
            <a:ext cx="3191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 &amp; improve unit economics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57616" y="3611880"/>
            <a:ext cx="3008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100" dirty="0">
                <a:solidFill>
                  <a:srgbClr val="3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10% commission once buyers see the sourcing service's value. Add premium membership and sponsored digest placements. Track AOV, repeat-order rate, CAC, and procurement turnaround before considering a second category or city.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— Final Revised Plan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C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96FCB993-AE92-1404-F86C-7A386E56DEC7}"/>
              </a:ext>
            </a:extLst>
          </p:cNvPr>
          <p:cNvSpPr/>
          <p:nvPr/>
        </p:nvSpPr>
        <p:spPr>
          <a:xfrm>
            <a:off x="9326880" y="4023360"/>
            <a:ext cx="5029200" cy="5029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30519913-F38A-63E1-F40C-36C0B8DA340E}"/>
              </a:ext>
            </a:extLst>
          </p:cNvPr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CONCLUSION &amp; NEXT STEPS</a:t>
            </a:r>
            <a:endParaRPr lang="en-US" sz="12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096AD055-8190-6828-C6C1-0DAF73EA07CB}"/>
              </a:ext>
            </a:extLst>
          </p:cNvPr>
          <p:cNvSpPr/>
          <p:nvPr/>
        </p:nvSpPr>
        <p:spPr>
          <a:xfrm>
            <a:off x="594360" y="9144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marketplace to procurement partner</a:t>
            </a:r>
            <a:endParaRPr lang="en-US" sz="27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70795FE6-EC1E-F84E-BB03-569B52A21D0A}"/>
              </a:ext>
            </a:extLst>
          </p:cNvPr>
          <p:cNvSpPr/>
          <p:nvPr/>
        </p:nvSpPr>
        <p:spPr>
          <a:xfrm>
            <a:off x="640080" y="160020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2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change: CraftCapital is no longer just a marketplace — it's a verified B2B marketplace with procurement assistance. That gives buyers a clearer reason to pay a 10% commission, while staying asset-light: no lending, no owned inventory or logistics.</a:t>
            </a:r>
            <a:endParaRPr lang="en-US" sz="1300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0AEC5FBC-2014-719A-51D5-1CB1F0DB69D0}"/>
              </a:ext>
            </a:extLst>
          </p:cNvPr>
          <p:cNvSpPr/>
          <p:nvPr/>
        </p:nvSpPr>
        <p:spPr>
          <a:xfrm>
            <a:off x="9281160" y="1005840"/>
            <a:ext cx="2606040" cy="868680"/>
          </a:xfrm>
          <a:prstGeom prst="roundRect">
            <a:avLst>
              <a:gd name="adj" fmla="val 6316"/>
            </a:avLst>
          </a:prstGeom>
          <a:solidFill>
            <a:srgbClr val="A8493D"/>
          </a:solidFill>
          <a:ln/>
        </p:spPr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3991DF89-911D-3AB8-4AE6-526D0B5E3ABB}"/>
              </a:ext>
            </a:extLst>
          </p:cNvPr>
          <p:cNvSpPr/>
          <p:nvPr/>
        </p:nvSpPr>
        <p:spPr>
          <a:xfrm>
            <a:off x="9436608" y="1097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financial case</a:t>
            </a:r>
            <a:endParaRPr lang="en-US" sz="115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4576D649-06B5-21C1-7E9E-ECF26BB87540}"/>
              </a:ext>
            </a:extLst>
          </p:cNvPr>
          <p:cNvSpPr/>
          <p:nvPr/>
        </p:nvSpPr>
        <p:spPr>
          <a:xfrm>
            <a:off x="9436608" y="1389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2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best/worst scenarios — one honest number</a:t>
            </a:r>
            <a:endParaRPr lang="en-US" sz="850" dirty="0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DDB60735-AEFC-2E61-459C-F578563D6EA5}"/>
              </a:ext>
            </a:extLst>
          </p:cNvPr>
          <p:cNvSpPr/>
          <p:nvPr/>
        </p:nvSpPr>
        <p:spPr>
          <a:xfrm>
            <a:off x="9281160" y="2029968"/>
            <a:ext cx="2606040" cy="868680"/>
          </a:xfrm>
          <a:prstGeom prst="roundRect">
            <a:avLst>
              <a:gd name="adj" fmla="val 6316"/>
            </a:avLst>
          </a:prstGeom>
          <a:solidFill>
            <a:srgbClr val="A8493D"/>
          </a:solidFill>
          <a:ln/>
        </p:spPr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D039D49C-88FC-7BE3-5892-E3E959E502B3}"/>
              </a:ext>
            </a:extLst>
          </p:cNvPr>
          <p:cNvSpPr/>
          <p:nvPr/>
        </p:nvSpPr>
        <p:spPr>
          <a:xfrm>
            <a:off x="9436608" y="2121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Asset-light, always</a:t>
            </a:r>
            <a:endParaRPr lang="en-US" sz="115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5F4E3721-3152-ECDC-FA06-9FD5383E78C1}"/>
              </a:ext>
            </a:extLst>
          </p:cNvPr>
          <p:cNvSpPr/>
          <p:nvPr/>
        </p:nvSpPr>
        <p:spPr>
          <a:xfrm>
            <a:off x="9436608" y="24140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2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lending, no owned inventory or logistics</a:t>
            </a:r>
            <a:endParaRPr lang="en-US" sz="850" dirty="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C34A8236-0949-F4E9-BFCB-F6A0ABBD72E9}"/>
              </a:ext>
            </a:extLst>
          </p:cNvPr>
          <p:cNvSpPr/>
          <p:nvPr/>
        </p:nvSpPr>
        <p:spPr>
          <a:xfrm>
            <a:off x="9281160" y="3054096"/>
            <a:ext cx="2606040" cy="868680"/>
          </a:xfrm>
          <a:prstGeom prst="roundRect">
            <a:avLst>
              <a:gd name="adj" fmla="val 6316"/>
            </a:avLst>
          </a:prstGeom>
          <a:solidFill>
            <a:srgbClr val="A8493D"/>
          </a:solidFill>
          <a:ln/>
        </p:spPr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C2423F15-94E3-4A5C-B701-2881BB2FAC7A}"/>
              </a:ext>
            </a:extLst>
          </p:cNvPr>
          <p:cNvSpPr/>
          <p:nvPr/>
        </p:nvSpPr>
        <p:spPr>
          <a:xfrm>
            <a:off x="9436608" y="31455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earns its keep</a:t>
            </a:r>
            <a:endParaRPr lang="en-US" sz="115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9F54D3ED-B4EA-5959-D4D8-603916241B9D}"/>
              </a:ext>
            </a:extLst>
          </p:cNvPr>
          <p:cNvSpPr/>
          <p:nvPr/>
        </p:nvSpPr>
        <p:spPr>
          <a:xfrm>
            <a:off x="9436608" y="34381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2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by real procurement assistance, not just listing</a:t>
            </a:r>
            <a:endParaRPr lang="en-US" sz="850" dirty="0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8EFA3A9F-7AA8-09F2-3873-FA801C1ECE0E}"/>
              </a:ext>
            </a:extLst>
          </p:cNvPr>
          <p:cNvSpPr/>
          <p:nvPr/>
        </p:nvSpPr>
        <p:spPr>
          <a:xfrm>
            <a:off x="640080" y="2606040"/>
            <a:ext cx="8366760" cy="658368"/>
          </a:xfrm>
          <a:prstGeom prst="roundRect">
            <a:avLst>
              <a:gd name="adj" fmla="val 8333"/>
            </a:avLst>
          </a:prstGeom>
          <a:solidFill>
            <a:srgbClr val="A8493D"/>
          </a:solidFill>
          <a:ln/>
        </p:spPr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CEC7D291-C5B9-4332-3105-23674F71DBE4}"/>
              </a:ext>
            </a:extLst>
          </p:cNvPr>
          <p:cNvSpPr/>
          <p:nvPr/>
        </p:nvSpPr>
        <p:spPr>
          <a:xfrm>
            <a:off x="804672" y="27066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8DC10CEF-166B-574E-0589-3119824E5AE0}"/>
              </a:ext>
            </a:extLst>
          </p:cNvPr>
          <p:cNvSpPr/>
          <p:nvPr/>
        </p:nvSpPr>
        <p:spPr>
          <a:xfrm>
            <a:off x="804672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B11D8936-6F59-1FA2-5DD5-2953462903CE}"/>
              </a:ext>
            </a:extLst>
          </p:cNvPr>
          <p:cNvSpPr/>
          <p:nvPr/>
        </p:nvSpPr>
        <p:spPr>
          <a:xfrm>
            <a:off x="1417320" y="260604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primary survey with Kolkata buyers to validate AOV, order frequency, procurement pain points, and willingness to pay 10%.</a:t>
            </a:r>
            <a:endParaRPr lang="en-US" sz="1080" dirty="0"/>
          </a:p>
        </p:txBody>
      </p:sp>
      <p:sp>
        <p:nvSpPr>
          <p:cNvPr id="62" name="Shape 17">
            <a:extLst>
              <a:ext uri="{FF2B5EF4-FFF2-40B4-BE49-F238E27FC236}">
                <a16:creationId xmlns:a16="http://schemas.microsoft.com/office/drawing/2014/main" id="{56655D0D-5EBE-F860-921D-42815CBCDB50}"/>
              </a:ext>
            </a:extLst>
          </p:cNvPr>
          <p:cNvSpPr/>
          <p:nvPr/>
        </p:nvSpPr>
        <p:spPr>
          <a:xfrm>
            <a:off x="640080" y="3383280"/>
            <a:ext cx="8366760" cy="658368"/>
          </a:xfrm>
          <a:prstGeom prst="roundRect">
            <a:avLst>
              <a:gd name="adj" fmla="val 8333"/>
            </a:avLst>
          </a:prstGeom>
          <a:solidFill>
            <a:srgbClr val="A8493D"/>
          </a:solidFill>
          <a:ln/>
        </p:spPr>
      </p:sp>
      <p:sp>
        <p:nvSpPr>
          <p:cNvPr id="64" name="Shape 18">
            <a:extLst>
              <a:ext uri="{FF2B5EF4-FFF2-40B4-BE49-F238E27FC236}">
                <a16:creationId xmlns:a16="http://schemas.microsoft.com/office/drawing/2014/main" id="{409BD3D1-6F18-B998-7F5B-0CA5E062364A}"/>
              </a:ext>
            </a:extLst>
          </p:cNvPr>
          <p:cNvSpPr/>
          <p:nvPr/>
        </p:nvSpPr>
        <p:spPr>
          <a:xfrm>
            <a:off x="804672" y="348386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0BB6C86C-6A36-6A16-639B-CAFCC13E6B74}"/>
              </a:ext>
            </a:extLst>
          </p:cNvPr>
          <p:cNvSpPr/>
          <p:nvPr/>
        </p:nvSpPr>
        <p:spPr>
          <a:xfrm>
            <a:off x="804672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64E0DDCB-F44A-DCBA-461D-3042D6DFA499}"/>
              </a:ext>
            </a:extLst>
          </p:cNvPr>
          <p:cNvSpPr/>
          <p:nvPr/>
        </p:nvSpPr>
        <p:spPr>
          <a:xfrm>
            <a:off x="1417320" y="338328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digest and track subscriber growth for 4–6 weeks before scaling artisan onboarding.</a:t>
            </a:r>
            <a:endParaRPr lang="en-US" sz="108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C0CF959D-5F41-4F20-644D-40500C86E5C2}"/>
              </a:ext>
            </a:extLst>
          </p:cNvPr>
          <p:cNvSpPr/>
          <p:nvPr/>
        </p:nvSpPr>
        <p:spPr>
          <a:xfrm>
            <a:off x="640080" y="4160520"/>
            <a:ext cx="8366760" cy="658368"/>
          </a:xfrm>
          <a:prstGeom prst="roundRect">
            <a:avLst>
              <a:gd name="adj" fmla="val 8333"/>
            </a:avLst>
          </a:prstGeom>
          <a:solidFill>
            <a:srgbClr val="A8493D"/>
          </a:solidFill>
          <a:ln/>
        </p:spPr>
      </p:sp>
      <p:sp>
        <p:nvSpPr>
          <p:cNvPr id="72" name="Shape 22">
            <a:extLst>
              <a:ext uri="{FF2B5EF4-FFF2-40B4-BE49-F238E27FC236}">
                <a16:creationId xmlns:a16="http://schemas.microsoft.com/office/drawing/2014/main" id="{79404FFD-ABF4-2CE9-2B88-92126AECD539}"/>
              </a:ext>
            </a:extLst>
          </p:cNvPr>
          <p:cNvSpPr/>
          <p:nvPr/>
        </p:nvSpPr>
        <p:spPr>
          <a:xfrm>
            <a:off x="804672" y="42611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4" name="Text 23">
            <a:extLst>
              <a:ext uri="{FF2B5EF4-FFF2-40B4-BE49-F238E27FC236}">
                <a16:creationId xmlns:a16="http://schemas.microsoft.com/office/drawing/2014/main" id="{A4136D91-77C4-4C6F-0226-EBDA89846418}"/>
              </a:ext>
            </a:extLst>
          </p:cNvPr>
          <p:cNvSpPr/>
          <p:nvPr/>
        </p:nvSpPr>
        <p:spPr>
          <a:xfrm>
            <a:off x="804672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C025CAE5-898A-3FBB-B9BB-51461ABD031A}"/>
              </a:ext>
            </a:extLst>
          </p:cNvPr>
          <p:cNvSpPr/>
          <p:nvPr/>
        </p:nvSpPr>
        <p:spPr>
          <a:xfrm>
            <a:off x="1417320" y="416052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10 anchor buyers and onboard the first 20 verified artisans as a proof-of-concept.</a:t>
            </a:r>
            <a:endParaRPr lang="en-US" sz="1080" dirty="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38E9AEC5-56D4-DE46-9B11-CE120E94CD33}"/>
              </a:ext>
            </a:extLst>
          </p:cNvPr>
          <p:cNvSpPr/>
          <p:nvPr/>
        </p:nvSpPr>
        <p:spPr>
          <a:xfrm>
            <a:off x="640080" y="4937760"/>
            <a:ext cx="8366760" cy="658368"/>
          </a:xfrm>
          <a:prstGeom prst="roundRect">
            <a:avLst>
              <a:gd name="adj" fmla="val 8333"/>
            </a:avLst>
          </a:prstGeom>
          <a:solidFill>
            <a:srgbClr val="A8493D"/>
          </a:solidFill>
          <a:ln/>
        </p:spPr>
      </p:sp>
      <p:sp>
        <p:nvSpPr>
          <p:cNvPr id="80" name="Shape 26">
            <a:extLst>
              <a:ext uri="{FF2B5EF4-FFF2-40B4-BE49-F238E27FC236}">
                <a16:creationId xmlns:a16="http://schemas.microsoft.com/office/drawing/2014/main" id="{9538193A-9B65-2B62-0CAC-B12D8A018292}"/>
              </a:ext>
            </a:extLst>
          </p:cNvPr>
          <p:cNvSpPr/>
          <p:nvPr/>
        </p:nvSpPr>
        <p:spPr>
          <a:xfrm>
            <a:off x="804672" y="50383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Text 27">
            <a:extLst>
              <a:ext uri="{FF2B5EF4-FFF2-40B4-BE49-F238E27FC236}">
                <a16:creationId xmlns:a16="http://schemas.microsoft.com/office/drawing/2014/main" id="{8EC8BED8-B0FB-9C75-C84E-197A7AC376E1}"/>
              </a:ext>
            </a:extLst>
          </p:cNvPr>
          <p:cNvSpPr/>
          <p:nvPr/>
        </p:nvSpPr>
        <p:spPr>
          <a:xfrm>
            <a:off x="804672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4" name="Text 28">
            <a:extLst>
              <a:ext uri="{FF2B5EF4-FFF2-40B4-BE49-F238E27FC236}">
                <a16:creationId xmlns:a16="http://schemas.microsoft.com/office/drawing/2014/main" id="{F1C96635-4853-6219-6033-1E91321981DA}"/>
              </a:ext>
            </a:extLst>
          </p:cNvPr>
          <p:cNvSpPr/>
          <p:nvPr/>
        </p:nvSpPr>
        <p:spPr>
          <a:xfrm>
            <a:off x="1417320" y="493776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3–5 real procurement requirements end-to-end; measure time and cost involved.</a:t>
            </a:r>
            <a:endParaRPr lang="en-US" sz="1080" dirty="0"/>
          </a:p>
        </p:txBody>
      </p:sp>
      <p:sp>
        <p:nvSpPr>
          <p:cNvPr id="86" name="Shape 29">
            <a:extLst>
              <a:ext uri="{FF2B5EF4-FFF2-40B4-BE49-F238E27FC236}">
                <a16:creationId xmlns:a16="http://schemas.microsoft.com/office/drawing/2014/main" id="{52A25C24-B340-8000-C20F-998AA13C12B5}"/>
              </a:ext>
            </a:extLst>
          </p:cNvPr>
          <p:cNvSpPr/>
          <p:nvPr/>
        </p:nvSpPr>
        <p:spPr>
          <a:xfrm>
            <a:off x="640080" y="5715000"/>
            <a:ext cx="8366760" cy="658368"/>
          </a:xfrm>
          <a:prstGeom prst="roundRect">
            <a:avLst>
              <a:gd name="adj" fmla="val 8333"/>
            </a:avLst>
          </a:prstGeom>
          <a:solidFill>
            <a:srgbClr val="A8493D"/>
          </a:solidFill>
          <a:ln/>
        </p:spPr>
      </p:sp>
      <p:sp>
        <p:nvSpPr>
          <p:cNvPr id="88" name="Shape 30">
            <a:extLst>
              <a:ext uri="{FF2B5EF4-FFF2-40B4-BE49-F238E27FC236}">
                <a16:creationId xmlns:a16="http://schemas.microsoft.com/office/drawing/2014/main" id="{5B0C506F-1733-7100-ED80-E8A1EC20DA0F}"/>
              </a:ext>
            </a:extLst>
          </p:cNvPr>
          <p:cNvSpPr/>
          <p:nvPr/>
        </p:nvSpPr>
        <p:spPr>
          <a:xfrm>
            <a:off x="804672" y="58155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35732CFA-81D7-15D7-323D-E336F404D442}"/>
              </a:ext>
            </a:extLst>
          </p:cNvPr>
          <p:cNvSpPr/>
          <p:nvPr/>
        </p:nvSpPr>
        <p:spPr>
          <a:xfrm>
            <a:off x="804672" y="5815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2" name="Text 32">
            <a:extLst>
              <a:ext uri="{FF2B5EF4-FFF2-40B4-BE49-F238E27FC236}">
                <a16:creationId xmlns:a16="http://schemas.microsoft.com/office/drawing/2014/main" id="{87E76EDB-B6BF-4448-D159-20C944FE72BE}"/>
              </a:ext>
            </a:extLst>
          </p:cNvPr>
          <p:cNvSpPr/>
          <p:nvPr/>
        </p:nvSpPr>
        <p:spPr>
          <a:xfrm>
            <a:off x="1417320" y="571500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expansion to a second category only after Phase 2 conversion and repeat-order data is available.</a:t>
            </a:r>
            <a:endParaRPr lang="en-US" sz="1080" dirty="0"/>
          </a:p>
        </p:txBody>
      </p:sp>
      <p:sp>
        <p:nvSpPr>
          <p:cNvPr id="94" name="Text 33">
            <a:extLst>
              <a:ext uri="{FF2B5EF4-FFF2-40B4-BE49-F238E27FC236}">
                <a16:creationId xmlns:a16="http://schemas.microsoft.com/office/drawing/2014/main" id="{B8503916-F875-2E85-A88C-F2D263ED6536}"/>
              </a:ext>
            </a:extLst>
          </p:cNvPr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CraftCapital · Final Revised Business Plan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2991</Words>
  <Application>Microsoft Office PowerPoint</Application>
  <PresentationFormat>Widescreen</PresentationFormat>
  <Paragraphs>447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SUMIT MAITRA</cp:lastModifiedBy>
  <cp:revision>7</cp:revision>
  <dcterms:created xsi:type="dcterms:W3CDTF">2026-08-28T22:59:16Z</dcterms:created>
  <dcterms:modified xsi:type="dcterms:W3CDTF">2026-08-29T11:18:05Z</dcterms:modified>
</cp:coreProperties>
</file>